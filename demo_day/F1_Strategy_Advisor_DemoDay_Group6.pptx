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One-stop or two-stop — the decision this tool supports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04672"/>
            <a:ext cx="11365992" cy="2743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86968"/>
            <a:ext cx="3566160" cy="3657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052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WHO USES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52728"/>
            <a:ext cx="3566160" cy="1508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3258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Race strategy engineer
Pre-race meeting
60–90 min before lights 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886968"/>
            <a:ext cx="3566160" cy="3657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9052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52728"/>
            <a:ext cx="3566160" cy="1508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258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Grid position · constructor tier
Circuit type · historical rate
Strategy scenario (1-stop / 2-stop)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886968"/>
            <a:ext cx="3566160" cy="36576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9052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252728"/>
            <a:ext cx="3566160" cy="1508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32588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P(top10) — points finish
P(top5) — strong result
One pair per scenario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26080"/>
            <a:ext cx="11365992" cy="2560320"/>
          </a:xfrm>
          <a:prstGeom prst="rect">
            <a:avLst/>
          </a:prstGeom>
          <a:solidFill>
            <a:srgbClr val="280600"/>
          </a:solidFill>
          <a:ln w="254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63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FFFFFF"/>
                </a:solidFill>
                <a:latin typeface="Calibri"/>
              </a:rPr>
              <a:t>"The decision this tool supports is:
which strategy protects which objective —
and which one destroys it."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Morales · Orellana · IIT414W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510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68096"/>
            <a:ext cx="11365992" cy="2743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886968"/>
            <a:ext cx="3566160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05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71016"/>
            <a:ext cx="3566160" cy="5074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371600"/>
            <a:ext cx="340156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2,447 driver-race observations
2019 – 2024  ·  6 seasons
Pre-race features:
  grid position  ·  constructor
  circuit type  ·  historical rate
Strategy fields → what-if controls
(not observed predictions)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886968"/>
            <a:ext cx="3566160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905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TEMPORAL 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71016"/>
            <a:ext cx="3566160" cy="5074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371600"/>
            <a:ext cx="340156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Train    →  2019 – 2021
Calibrate  →  2022
  (held out from training;
   isotonic regression only)
Test     →  2023 – 2024
  (untouched until evaluation)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886968"/>
            <a:ext cx="3566160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905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271016"/>
            <a:ext cx="3566160" cy="5074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371600"/>
            <a:ext cx="3401568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Gradient boosting  +  isotonic calibration
Two targets:
  ● is_top10  —  points finish
  ● is_top5   —  strong result
Benchmarks:
  ● Logistic scenario model
  ● Grid-rule heuristic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Morales · Orellana · IIT414W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510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 — held-out 2023–2024 test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68096"/>
            <a:ext cx="11365992" cy="2743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886968"/>
          <a:ext cx="5989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48840"/>
                <a:gridCol w="685800"/>
                <a:gridCol w="822960"/>
                <a:gridCol w="1325880"/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Brier↓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AUC↑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 Reference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is_top10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CCCCC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10600"/>
                          </a:solidFill>
                          <a:latin typeface="Calibri"/>
                        </a:rPr>
                        <a:t>0.125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853"/>
                          </a:solidFill>
                          <a:latin typeface="Calibri"/>
                        </a:rPr>
                        <a:t>Docent 0.132 ✓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Logistic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0.883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Grid-rule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0.160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is_top5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CCCCC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10600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853"/>
                          </a:solidFill>
                          <a:latin typeface="Calibri"/>
                        </a:rPr>
                        <a:t>Grid-rule 0.113 ✓</a:t>
                      </a:r>
                    </a:p>
                  </a:txBody>
                  <a:tcPr>
                    <a:solidFill>
                      <a:srgbClr val="280600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Logistic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Grid-rule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al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86968"/>
            <a:ext cx="2743200" cy="2514600"/>
          </a:xfrm>
          <a:prstGeom prst="rect">
            <a:avLst/>
          </a:prstGeom>
        </p:spPr>
      </p:pic>
      <p:pic>
        <p:nvPicPr>
          <p:cNvPr id="8" name="Picture 7" descr="cal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886968"/>
            <a:ext cx="2743200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474720"/>
            <a:ext cx="5532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Calibration curves: predicted probability vs actual outcome rate.
Estimates in the 0.2–0.8 range are well-behaved for both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251960"/>
            <a:ext cx="5532120" cy="1783080"/>
          </a:xfrm>
          <a:prstGeom prst="rect">
            <a:avLst/>
          </a:prstGeom>
          <a:solidFill>
            <a:srgbClr val="280600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3434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Probabilities are reliable enough to
support a paired scenario comparison.
Compare two plans — read the delta.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510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Morales · Orellana · IIT414W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510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Austrian GP 2023 — Ocon, P12
Same driver · same race · different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Context held fixed: driver · constructor · circuit · grid position     |     Only strategy changes.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63040"/>
          <a:ext cx="113659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3108960"/>
                <a:gridCol w="3410712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CCCC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CCCC"/>
                          </a:solidFill>
                          <a:latin typeface="Calibri"/>
                        </a:rPr>
                        <a:t>One-stop  (M-H, lap 32)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CCCC"/>
                          </a:solidFill>
                          <a:latin typeface="Calibri"/>
                        </a:rPr>
                        <a:t>Two-stop  (S-M-H, laps 18+42)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CCCCC"/>
                          </a:solidFill>
                          <a:latin typeface="Calibri"/>
                        </a:rPr>
                        <a:t>Δ  Two minus One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777777"/>
                          </a:solidFill>
                          <a:latin typeface="Calibri"/>
                        </a:rPr>
                        <a:t>P(top10)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0.134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0.154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777777"/>
                          </a:solidFill>
                          <a:latin typeface="Calibri"/>
                        </a:rPr>
                        <a:t>+0.020  →  indifferent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CCCCCC"/>
                          </a:solidFill>
                          <a:latin typeface="Calibri"/>
                        </a:rPr>
                        <a:t>P(top5)</a:t>
                      </a:r>
                    </a:p>
                  </a:txBody>
                  <a:tcPr>
                    <a:solidFill>
                      <a:srgbClr val="1E0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>
                    <a:solidFill>
                      <a:srgbClr val="1E0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>
                    <a:solidFill>
                      <a:srgbClr val="1E0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E10600"/>
                          </a:solidFill>
                          <a:latin typeface="Calibri"/>
                        </a:rPr>
                        <a:t>+0.349  →  quadrupled ▲</a:t>
                      </a:r>
                    </a:p>
                  </a:txBody>
                  <a:tcPr>
                    <a:solidFill>
                      <a:srgbClr val="1E080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343400"/>
            <a:ext cx="11365992" cy="1600200"/>
          </a:xfrm>
          <a:prstGeom prst="rect">
            <a:avLst/>
          </a:prstGeom>
          <a:solidFill>
            <a:srgbClr val="280600"/>
          </a:solidFill>
          <a:ln w="317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07408"/>
            <a:ext cx="11109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Choose the target before choosing the strategy.
One-stop protects the points objective.
Two-stop is only justified when chasing top-5 upside.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053328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7777"/>
                </a:solidFill>
                <a:latin typeface="Calibri"/>
              </a:rPr>
              <a:t>Observational — not causal. Faster cars select into different strategies historically.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10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Morales · Orellana · IIT414W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510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768096"/>
            <a:ext cx="11365992" cy="27432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11365992" cy="1325880"/>
          </a:xfrm>
          <a:prstGeom prst="rect">
            <a:avLst/>
          </a:prstGeom>
          <a:solidFill>
            <a:srgbClr val="280600"/>
          </a:solidFill>
          <a:ln w="317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Use this tool to surface strategy scenarios where P(top10) and P(top5) diverge — before lights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95728"/>
            <a:ext cx="11365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CCCC"/>
                </a:solidFill>
                <a:latin typeface="Calibri"/>
              </a:rPr>
              <a:t>We do not recommend deploying this tool for live pit-wall decisions unless: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944368"/>
            <a:ext cx="384048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The model is recalibrated on the current season before each race weekend.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13048"/>
            <a:ext cx="384048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8130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The confounding between strategy choice and car pace has been explicitly
controlled through matched-constructor comparisons.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81728"/>
            <a:ext cx="384048" cy="384048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6817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The tool has been validated on wet-race and safety-car scenarios,
where current error rates are 15–20% higher than dry conditions.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Morales · Orellana · IIT414W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0" y="651052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